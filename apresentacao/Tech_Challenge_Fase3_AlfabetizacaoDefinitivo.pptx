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63" r:id="rId5"/>
    <p:sldId id="259" r:id="rId6"/>
    <p:sldId id="260" r:id="rId7"/>
    <p:sldId id="261" r:id="rId8"/>
    <p:sldId id="262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136" dt="2026-09-15T18:45:19.8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Peso na previsão</c:v>
                </c:pt>
              </c:strCache>
            </c:strRef>
          </c:tx>
          <c:spPr>
            <a:solidFill>
              <a:srgbClr val="3C7A89"/>
            </a:solidFill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3A3F44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Estado (UF)</c:v>
                </c:pt>
                <c:pt idx="1">
                  <c:v>Metas de alfabetização pactuadas</c:v>
                </c:pt>
                <c:pt idx="2">
                  <c:v>Nível de alfabetização atual do aluno</c:v>
                </c:pt>
                <c:pt idx="3">
                  <c:v>Desempenho histórico do município</c:v>
                </c:pt>
                <c:pt idx="4">
                  <c:v>Outros fatores territoriais e socioeconômicos</c:v>
                </c:pt>
                <c:pt idx="5">
                  <c:v>Versão da prova aplicada*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0.03</c:v>
                </c:pt>
                <c:pt idx="1">
                  <c:v>0.06</c:v>
                </c:pt>
                <c:pt idx="2">
                  <c:v>7.0000000000000007E-2</c:v>
                </c:pt>
                <c:pt idx="3">
                  <c:v>7.0000000000000007E-2</c:v>
                </c:pt>
                <c:pt idx="4">
                  <c:v>0.23</c:v>
                </c:pt>
                <c:pt idx="5">
                  <c:v>0.54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56C-4454-916C-1DF0F04CC17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F293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E9B3D4-F54B-4673-9943-0733661D79DE}" type="datetimeFigureOut">
              <a:t>15/09/2026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03F5C8-3FFD-4070-B5DE-116D87D73B8E}" type="slidenum"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6191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2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4023360" cy="4023360"/>
          </a:xfrm>
          <a:prstGeom prst="ellipse">
            <a:avLst/>
          </a:prstGeom>
          <a:solidFill>
            <a:srgbClr val="17324A"/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-274320"/>
            <a:ext cx="2194560" cy="2194560"/>
          </a:xfrm>
          <a:prstGeom prst="ellipse">
            <a:avLst/>
          </a:prstGeom>
          <a:solidFill>
            <a:srgbClr val="3C7A89"/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4572000"/>
            <a:ext cx="3291840" cy="3291840"/>
          </a:xfrm>
          <a:prstGeom prst="ellipse">
            <a:avLst/>
          </a:prstGeom>
          <a:solidFill>
            <a:srgbClr val="17324A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640080"/>
            <a:ext cx="777240" cy="777240"/>
          </a:xfrm>
          <a:prstGeom prst="ellipse">
            <a:avLst/>
          </a:prstGeom>
          <a:solidFill>
            <a:srgbClr val="D99A2B"/>
          </a:solidFill>
          <a:ln/>
        </p:spPr>
      </p:sp>
      <p:pic>
        <p:nvPicPr>
          <p:cNvPr id="6" name="Image 0" descr="/home/claude/deck/assets/icon_book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841" y="741121"/>
            <a:ext cx="575158" cy="57515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85800" y="233172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CHALLENGE · FASE 3  |  PÓS TECH EM DATA SCIENCE &amp; IA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697480"/>
            <a:ext cx="10241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Prevendo o Risco de Não Alfabetização</a:t>
            </a:r>
            <a:endParaRPr lang="en-US" sz="4000" dirty="0"/>
          </a:p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Brasil</a:t>
            </a:r>
            <a:endParaRPr lang="en-US" sz="40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44348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C9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dados públicos podem ajudar gestores a agir antes que um aluno chegue à prova sem saber ler e escrever.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713232" y="5806440"/>
            <a:ext cx="2926080" cy="0"/>
          </a:xfrm>
          <a:prstGeom prst="line">
            <a:avLst/>
          </a:prstGeom>
          <a:noFill/>
          <a:ln w="19050">
            <a:solidFill>
              <a:srgbClr val="3C7A89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85800" y="5943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 executiva · Tech Challenge Fase 3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100"/>
              </a:lnSpc>
              <a:buNone/>
            </a:pPr>
            <a:r>
              <a:rPr lang="en-US" sz="2800" b="1" dirty="0">
                <a:solidFill>
                  <a:srgbClr val="173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Hoje só descobrimos o risco depois que é tarde demais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947672"/>
            <a:ext cx="91440" cy="91440"/>
          </a:xfrm>
          <a:prstGeom prst="ellipse">
            <a:avLst/>
          </a:prstGeom>
          <a:solidFill>
            <a:srgbClr val="D99A2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819656"/>
            <a:ext cx="6263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Brasil, apenas 59,8% dos alunos do 2º ano do Ensino Fundamental são alfabetizados no prazo — cerca de 4 em cada 10 não são.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94360" y="2971800"/>
            <a:ext cx="91440" cy="91440"/>
          </a:xfrm>
          <a:prstGeom prst="ellipse">
            <a:avLst/>
          </a:prstGeom>
          <a:solidFill>
            <a:srgbClr val="D99A2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2843784"/>
            <a:ext cx="6263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Essa informação só aparece quando o resultado da prova sai. Nesse momento, já não há mais tempo para agir sobre aquele aluno.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3995928"/>
            <a:ext cx="91440" cy="91440"/>
          </a:xfrm>
          <a:prstGeom prst="ellipse">
            <a:avLst/>
          </a:prstGeom>
          <a:solidFill>
            <a:srgbClr val="D99A2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3867912"/>
            <a:ext cx="6263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Gestores públicos precisam de algo diferente: uma forma de saber, com antecedência, onde o risco está concentrado.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4360" y="5020056"/>
            <a:ext cx="91440" cy="91440"/>
          </a:xfrm>
          <a:prstGeom prst="ellipse">
            <a:avLst/>
          </a:prstGeom>
          <a:solidFill>
            <a:srgbClr val="D99A2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4892040"/>
            <a:ext cx="6263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Nosso objetivo foi construir um modelo capaz de prever, aluno a aluno, quem está em risco de não alfabetização — usando dados educacionais, territoriais e socioeconômicos já disponíveis.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452360" y="1874520"/>
            <a:ext cx="4160520" cy="3794760"/>
          </a:xfrm>
          <a:prstGeom prst="roundRect">
            <a:avLst>
              <a:gd name="adj" fmla="val 2169"/>
            </a:avLst>
          </a:prstGeom>
          <a:solidFill>
            <a:srgbClr val="17324A"/>
          </a:solidFill>
          <a:ln w="12700">
            <a:solidFill>
              <a:srgbClr val="17324A"/>
            </a:solidFill>
            <a:prstDash val="solid"/>
          </a:ln>
          <a:effectLst>
            <a:outerShdw blurRad="101600" dist="25400" dir="5400000" algn="bl" rotWithShape="0">
              <a:srgbClr val="1B2A3A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818120" y="2212848"/>
            <a:ext cx="658368" cy="658368"/>
          </a:xfrm>
          <a:prstGeom prst="ellipse">
            <a:avLst/>
          </a:prstGeom>
          <a:solidFill>
            <a:srgbClr val="3C7A89"/>
          </a:solidFill>
          <a:ln/>
        </p:spPr>
      </p:sp>
      <p:pic>
        <p:nvPicPr>
          <p:cNvPr id="14" name="Image 0" descr="/home/claude/deck/assets/icon_boo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3708" y="2298436"/>
            <a:ext cx="487192" cy="487192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7452360" y="2971800"/>
            <a:ext cx="4160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D99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59,8%</a:t>
            </a:r>
            <a:endParaRPr lang="en-US" sz="5400" dirty="0"/>
          </a:p>
        </p:txBody>
      </p:sp>
      <p:sp>
        <p:nvSpPr>
          <p:cNvPr id="16" name="Text 13"/>
          <p:cNvSpPr txBox="1"/>
          <p:nvPr/>
        </p:nvSpPr>
        <p:spPr>
          <a:xfrm>
            <a:off x="7726680" y="3977640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0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alunos do 2º ano do EF foram</a:t>
            </a:r>
            <a:endParaRPr lang="en-US" sz="1300" dirty="0"/>
          </a:p>
          <a:p>
            <a:pPr marL="0" indent="0" algn="ctr">
              <a:lnSpc>
                <a:spcPts val="1700"/>
              </a:lnSpc>
              <a:buNone/>
            </a:pPr>
            <a:r>
              <a:rPr lang="en-US" sz="130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alfabetizados no Brasil em 2024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7909560" y="4892040"/>
            <a:ext cx="3246120" cy="0"/>
          </a:xfrm>
          <a:prstGeom prst="line">
            <a:avLst/>
          </a:prstGeom>
          <a:noFill/>
          <a:ln w="12700">
            <a:solidFill>
              <a:srgbClr val="2E4B6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726680" y="502920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AF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 seja: 4 em cada 10 alunos avaliados terminam essa etapa sem o domínio esperado de leitura e escrita.</a:t>
            </a:r>
            <a:endParaRPr lang="en-US" sz="115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Challenge · Fase 3 · Predição de Alfabetização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PRINCIPAIS INSIGHTS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100"/>
              </a:lnSpc>
              <a:buNone/>
            </a:pPr>
            <a:r>
              <a:rPr lang="en-US" sz="2800" b="1" dirty="0">
                <a:solidFill>
                  <a:srgbClr val="173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os dados revelam antes mesmo de qualquer modelo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943600" cy="4343400"/>
          </a:xfrm>
          <a:prstGeom prst="roundRect">
            <a:avLst>
              <a:gd name="adj" fmla="val 1895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blurRad="101600" dist="25400" dir="5400000" algn="bl" rotWithShape="0">
              <a:srgbClr val="1B2A3A">
                <a:alpha val="12000"/>
              </a:srgbClr>
            </a:outerShdw>
          </a:effectLst>
        </p:spPr>
      </p:sp>
      <p:pic>
        <p:nvPicPr>
          <p:cNvPr id="5" name="Image 0" descr="/home/claude/deck/assets/regiao_re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148840"/>
            <a:ext cx="5394960" cy="36576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720840" y="1874520"/>
            <a:ext cx="566928" cy="566928"/>
          </a:xfrm>
          <a:prstGeom prst="ellipse">
            <a:avLst/>
          </a:prstGeom>
          <a:solidFill>
            <a:srgbClr val="17324A"/>
          </a:solidFill>
          <a:ln/>
        </p:spPr>
      </p:sp>
      <p:pic>
        <p:nvPicPr>
          <p:cNvPr id="7" name="Image 1" descr="/home/claude/deck/assets/icon_trending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4541" y="1948221"/>
            <a:ext cx="419527" cy="419527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406640" y="184708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passado se repete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7406640" y="2221992"/>
            <a:ext cx="4206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Municípios que já tinham bom desempenho educacional tendem a manter os alunos alfabetizados. É o sinal isolado mais forte que encontramos.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6720840" y="3383280"/>
            <a:ext cx="566928" cy="566928"/>
          </a:xfrm>
          <a:prstGeom prst="ellipse">
            <a:avLst/>
          </a:prstGeom>
          <a:solidFill>
            <a:srgbClr val="3C7A89"/>
          </a:solidFill>
          <a:ln/>
        </p:spPr>
      </p:sp>
      <p:pic>
        <p:nvPicPr>
          <p:cNvPr id="11" name="Image 2" descr="/home/claude/deck/assets/icon_map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4541" y="3456981"/>
            <a:ext cx="419527" cy="419527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7406640" y="335584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Brasil alfabetiza de forma desigual</a:t>
            </a:r>
            <a:endParaRPr lang="en-US" sz="1400" dirty="0"/>
          </a:p>
        </p:txBody>
      </p:sp>
      <p:sp>
        <p:nvSpPr>
          <p:cNvPr id="13" name="Text 8"/>
          <p:cNvSpPr txBox="1"/>
          <p:nvPr/>
        </p:nvSpPr>
        <p:spPr>
          <a:xfrm>
            <a:off x="7406640" y="3730752"/>
            <a:ext cx="4206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 e Sudeste alfabetizam mais que Norte e Nordeste; a rede estadual supera a municipal na maioria das regiões.</a:t>
            </a:r>
            <a:endParaRPr lang="en-US" sz="1150" dirty="0"/>
          </a:p>
        </p:txBody>
      </p:sp>
      <p:sp>
        <p:nvSpPr>
          <p:cNvPr id="14" name="Shape 9"/>
          <p:cNvSpPr/>
          <p:nvPr/>
        </p:nvSpPr>
        <p:spPr>
          <a:xfrm>
            <a:off x="6720840" y="4892040"/>
            <a:ext cx="566928" cy="566928"/>
          </a:xfrm>
          <a:prstGeom prst="ellipse">
            <a:avLst/>
          </a:prstGeom>
          <a:solidFill>
            <a:srgbClr val="D99A2B"/>
          </a:solidFill>
          <a:ln/>
        </p:spPr>
      </p:sp>
      <p:pic>
        <p:nvPicPr>
          <p:cNvPr id="15" name="Image 3" descr="/home/claude/deck/assets/icon_search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94541" y="4965741"/>
            <a:ext cx="419527" cy="419527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7406640" y="486460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Falta de dado também é informação</a:t>
            </a:r>
            <a:endParaRPr lang="en-US" sz="1400" dirty="0"/>
          </a:p>
        </p:txBody>
      </p:sp>
      <p:sp>
        <p:nvSpPr>
          <p:cNvPr id="17" name="Text 11"/>
          <p:cNvSpPr txBox="1"/>
          <p:nvPr/>
        </p:nvSpPr>
        <p:spPr>
          <a:xfrm>
            <a:off x="7406640" y="5239512"/>
            <a:ext cx="4206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Municípios sem histórico de 2023 não são um caso aleatório — estão concentrados em estados que não participaram da 1ª edição, e isso importa para a leitura do risco.</a:t>
            </a:r>
            <a:endParaRPr lang="en-US" sz="1150" dirty="0"/>
          </a:p>
        </p:txBody>
      </p:sp>
      <p:sp>
        <p:nvSpPr>
          <p:cNvPr id="18" name="Text 12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Challenge · Fase 3 · Predição de Alfabetização</a:t>
            </a:r>
            <a:endParaRPr lang="en-US" sz="900" dirty="0"/>
          </a:p>
        </p:txBody>
      </p:sp>
      <p:sp>
        <p:nvSpPr>
          <p:cNvPr id="19" name="Text 13"/>
          <p:cNvSpPr txBox="1"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3B8671E9-113E-E8EF-4B46-7FB7A2D902F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6418" y="1784033"/>
            <a:ext cx="5948045" cy="43465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75F8FB1-6B97-C2D4-B71A-D71D9FD12C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33" y="77763"/>
            <a:ext cx="10905066" cy="3789510"/>
          </a:xfrm>
          <a:prstGeom prst="rect">
            <a:avLst/>
          </a:prstGeom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52900AA-6860-DFC7-CF6C-DC327B3F8C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734" y="3869983"/>
            <a:ext cx="6057900" cy="298590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FCE53A0-0639-4E3C-94CD-868DA0EF631C}"/>
              </a:ext>
            </a:extLst>
          </p:cNvPr>
          <p:cNvSpPr txBox="1"/>
          <p:nvPr/>
        </p:nvSpPr>
        <p:spPr>
          <a:xfrm>
            <a:off x="6809772" y="4417670"/>
            <a:ext cx="2743199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>
                <a:ea typeface="Calibri"/>
                <a:cs typeface="Calibri"/>
              </a:rPr>
              <a:t>Gráficos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complementares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sobre</a:t>
            </a:r>
            <a:r>
              <a:rPr lang="en-US" dirty="0">
                <a:ea typeface="Calibri"/>
                <a:cs typeface="Calibri"/>
              </a:rPr>
              <a:t> a Taxa de </a:t>
            </a:r>
            <a:r>
              <a:rPr lang="en-US" dirty="0" err="1">
                <a:ea typeface="Calibri"/>
                <a:cs typeface="Calibri"/>
              </a:rPr>
              <a:t>Alfabetização</a:t>
            </a:r>
            <a:r>
              <a:rPr lang="en-US" dirty="0">
                <a:ea typeface="Calibri"/>
                <a:cs typeface="Calibri"/>
              </a:rPr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13571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ESTRATÉGICO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750"/>
              </a:lnSpc>
              <a:buNone/>
            </a:pPr>
            <a:r>
              <a:rPr lang="en-US" sz="2500" b="1" dirty="0">
                <a:solidFill>
                  <a:srgbClr val="173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modelo que enxerga o risco antes da prova acontecer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120640" cy="1965960"/>
          </a:xfrm>
          <a:prstGeom prst="roundRect">
            <a:avLst>
              <a:gd name="adj" fmla="val 4186"/>
            </a:avLst>
          </a:prstGeom>
          <a:solidFill>
            <a:srgbClr val="DCEBE1"/>
          </a:solidFill>
          <a:ln w="12700">
            <a:solidFill>
              <a:srgbClr val="DCEBE1"/>
            </a:solidFill>
            <a:prstDash val="solid"/>
          </a:ln>
          <a:effectLst>
            <a:outerShdw blurRad="101600" dist="25400" dir="5400000" algn="bl" rotWithShape="0">
              <a:srgbClr val="1B2A3A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9202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4C8C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em cada 10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87168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alunos que de fato não seriam alfabetizados são corretamente identificados pelo modelo como risco — antes do resultado da prova.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3931920"/>
            <a:ext cx="5120640" cy="1965960"/>
          </a:xfrm>
          <a:prstGeom prst="roundRect">
            <a:avLst>
              <a:gd name="adj" fmla="val 4186"/>
            </a:avLst>
          </a:prstGeom>
          <a:solidFill>
            <a:srgbClr val="DCEAEE"/>
          </a:solidFill>
          <a:ln w="12700">
            <a:solidFill>
              <a:srgbClr val="DCEAEE"/>
            </a:solidFill>
            <a:prstDash val="solid"/>
          </a:ln>
          <a:effectLst>
            <a:outerShdw blurRad="101600" dist="25400" dir="5400000" algn="bl" rotWithShape="0">
              <a:srgbClr val="1B2A3A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22960" y="40690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C7A8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em cada 3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636008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vezes que o modelo aponta risco, ele acerta — uma base sólida para priorizar atenção pedagógica, não uma sentença definitiva.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989320" y="1783080"/>
            <a:ext cx="5669280" cy="4114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blurRad="101600" dist="25400" dir="5400000" algn="bl" rotWithShape="0">
              <a:srgbClr val="1B2A3A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263640" y="19659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mais pesa na previsão de risco?</a:t>
            </a:r>
            <a:endParaRPr lang="en-US" sz="1500" dirty="0"/>
          </a:p>
        </p:txBody>
      </p:sp>
      <p:graphicFrame>
        <p:nvGraphicFramePr>
          <p:cNvPr id="12" name="Chart 0"/>
          <p:cNvGraphicFramePr/>
          <p:nvPr/>
        </p:nvGraphicFramePr>
        <p:xfrm>
          <a:off x="6263640" y="2423160"/>
          <a:ext cx="5120640" cy="2606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Text 10"/>
          <p:cNvSpPr txBox="1"/>
          <p:nvPr/>
        </p:nvSpPr>
        <p:spPr>
          <a:xfrm>
            <a:off x="6263640" y="516636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*Sinal técnico com peso acima do esperado — ainda em investigação, não deve orientar decisões sozinho. O fator mais alinhado à literatura educacional é o desempenho histórico do município.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Challenge · Fase 3 · Predição de Alfabetização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 ESTRATÉGICA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750"/>
              </a:lnSpc>
              <a:buNone/>
            </a:pPr>
            <a:r>
              <a:rPr lang="en-US" sz="2500" b="1" dirty="0">
                <a:solidFill>
                  <a:srgbClr val="173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uma probabilidade a uma decisão de política pública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73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Perguntas que o modelo ajuda a responder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94360" y="2487168"/>
            <a:ext cx="82296" cy="82296"/>
          </a:xfrm>
          <a:prstGeom prst="ellipse">
            <a:avLst/>
          </a:prstGeom>
          <a:solidFill>
            <a:srgbClr val="3C7A8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313432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Quais municípios apresentam maior risco educacional agora?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94360" y="3172968"/>
            <a:ext cx="82296" cy="82296"/>
          </a:xfrm>
          <a:prstGeom prst="ellipse">
            <a:avLst/>
          </a:prstGeom>
          <a:solidFill>
            <a:srgbClr val="3C7A8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999232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direcionar apoio pedagógico e recursos primeiro?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94360" y="3858768"/>
            <a:ext cx="82296" cy="82296"/>
          </a:xfrm>
          <a:prstGeom prst="ellipse">
            <a:avLst/>
          </a:prstGeom>
          <a:solidFill>
            <a:srgbClr val="3C7A8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3685032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Quais municípios podem não atingir suas metas futuras?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94360" y="4544568"/>
            <a:ext cx="82296" cy="82296"/>
          </a:xfrm>
          <a:prstGeom prst="ellipse">
            <a:avLst/>
          </a:prstGeom>
          <a:solidFill>
            <a:srgbClr val="3C7A8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4370832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Quais regiões precisam de estratégias semelhantes?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44068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pretendido: transformar uma lista de milhares de municípios em uma agenda de prioridades — com apoio pedagógico chegando a quem mais precisa, antes da prova.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223760" y="1783080"/>
            <a:ext cx="4434840" cy="4343400"/>
          </a:xfrm>
          <a:prstGeom prst="roundRect">
            <a:avLst>
              <a:gd name="adj" fmla="val 1895"/>
            </a:avLst>
          </a:prstGeom>
          <a:solidFill>
            <a:srgbClr val="17324A"/>
          </a:solidFill>
          <a:ln w="12700">
            <a:solidFill>
              <a:srgbClr val="17324A"/>
            </a:solidFill>
            <a:prstDash val="solid"/>
          </a:ln>
          <a:effectLst>
            <a:outerShdw blurRad="101600" dist="25400" dir="5400000" algn="bl" rotWithShape="0">
              <a:srgbClr val="1B2A3A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7498080" y="19659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Ranking de risco por município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498080" y="235915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partir da probabilidade prevista pelo modelo: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498080" y="2880360"/>
            <a:ext cx="3931920" cy="777240"/>
          </a:xfrm>
          <a:prstGeom prst="roundRect">
            <a:avLst>
              <a:gd name="adj" fmla="val 9412"/>
            </a:avLst>
          </a:prstGeom>
          <a:solidFill>
            <a:srgbClr val="C1543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680960" y="288036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RISCO ALTO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9418320" y="288036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atenção prioritária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498080" y="3813048"/>
            <a:ext cx="3931920" cy="777240"/>
          </a:xfrm>
          <a:prstGeom prst="roundRect">
            <a:avLst>
              <a:gd name="adj" fmla="val 9412"/>
            </a:avLst>
          </a:prstGeom>
          <a:solidFill>
            <a:srgbClr val="D99A2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680960" y="3813048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RISCO MÉDIO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9418320" y="3813048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acompanhar de perto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498080" y="4745736"/>
            <a:ext cx="3931920" cy="777240"/>
          </a:xfrm>
          <a:prstGeom prst="roundRect">
            <a:avLst>
              <a:gd name="adj" fmla="val 9412"/>
            </a:avLst>
          </a:prstGeom>
          <a:solidFill>
            <a:srgbClr val="4C8C6B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680960" y="4745736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RISCO BAIXO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9418320" y="4745736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situação estável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7498080" y="571500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i="1" dirty="0">
                <a:solidFill>
                  <a:srgbClr val="AF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objetivo não é rotular alunos, e sim orientar onde investir tempo e recursos pedagógicos com mais eficiência.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Challenge · Fase 3 · Predição de Alfabetização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E PRÓXIMOS PASSOS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100"/>
              </a:lnSpc>
              <a:buNone/>
            </a:pPr>
            <a:r>
              <a:rPr lang="en-US" sz="2800" b="1" dirty="0">
                <a:solidFill>
                  <a:srgbClr val="173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primeiro passo sólido, com evolução planejada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349240" cy="4023360"/>
          </a:xfrm>
          <a:prstGeom prst="roundRect">
            <a:avLst>
              <a:gd name="adj" fmla="val 2045"/>
            </a:avLst>
          </a:prstGeom>
          <a:solidFill>
            <a:srgbClr val="F5DED8"/>
          </a:solidFill>
          <a:ln w="12700">
            <a:solidFill>
              <a:srgbClr val="F5DED8"/>
            </a:solidFill>
            <a:prstDash val="solid"/>
          </a:ln>
          <a:effectLst>
            <a:outerShdw blurRad="101600" dist="25400" dir="5400000" algn="bl" rotWithShape="0">
              <a:srgbClr val="1B2A3A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210312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ainda não podemos garantir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68680" y="2660904"/>
            <a:ext cx="73152" cy="73152"/>
          </a:xfrm>
          <a:prstGeom prst="ellipse">
            <a:avLst/>
          </a:prstGeom>
          <a:solidFill>
            <a:srgbClr val="C1543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97280" y="2514600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 todos os municípios têm o mesmo histórico de dados — a cobertura varia entre anos e estados.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68680" y="3666744"/>
            <a:ext cx="73152" cy="73152"/>
          </a:xfrm>
          <a:prstGeom prst="ellipse">
            <a:avLst/>
          </a:prstGeom>
          <a:solidFill>
            <a:srgbClr val="C1543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97280" y="3520440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dados econômicos usados têm alguns anos de defasagem em relação a hoje.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68680" y="4672584"/>
            <a:ext cx="73152" cy="73152"/>
          </a:xfrm>
          <a:prstGeom prst="ellipse">
            <a:avLst/>
          </a:prstGeom>
          <a:solidFill>
            <a:srgbClr val="C1543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97280" y="4526280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vale para o 2º ano do Ensino Fundamental — não deve ser extrapolado para outras etapas.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26480" y="1920240"/>
            <a:ext cx="5394960" cy="4023360"/>
          </a:xfrm>
          <a:prstGeom prst="roundRect">
            <a:avLst>
              <a:gd name="adj" fmla="val 2045"/>
            </a:avLst>
          </a:prstGeom>
          <a:solidFill>
            <a:srgbClr val="DCEBE1"/>
          </a:solidFill>
          <a:ln w="12700">
            <a:solidFill>
              <a:srgbClr val="DCEBE1"/>
            </a:solidFill>
            <a:prstDash val="solid"/>
          </a:ln>
          <a:effectLst>
            <a:outerShdw blurRad="101600" dist="25400" dir="5400000" algn="bl" rotWithShape="0">
              <a:srgbClr val="1B2A3A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400800" y="21031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vem a seguir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46520" y="2660904"/>
            <a:ext cx="73152" cy="73152"/>
          </a:xfrm>
          <a:prstGeom prst="ellipse">
            <a:avLst/>
          </a:prstGeom>
          <a:solidFill>
            <a:srgbClr val="4C8C6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675120" y="251460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Investigar a fundo o peso da versão da prova antes de confiar nela para qualquer decisão.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46520" y="3666744"/>
            <a:ext cx="73152" cy="73152"/>
          </a:xfrm>
          <a:prstGeom prst="ellipse">
            <a:avLst/>
          </a:prstGeom>
          <a:solidFill>
            <a:srgbClr val="4C8C6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675120" y="352044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Refinar o modelo para ganhar precisão sem perder simplicidade de uso.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46520" y="4672584"/>
            <a:ext cx="73152" cy="73152"/>
          </a:xfrm>
          <a:prstGeom prst="ellipse">
            <a:avLst/>
          </a:prstGeom>
          <a:solidFill>
            <a:srgbClr val="4C8C6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675120" y="452628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Transformar a previsão em um painel simples de priorização para gestores educacionais.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Challenge · Fase 3 · Predição de Alfabetização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22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463040"/>
            <a:ext cx="3840480" cy="3840480"/>
          </a:xfrm>
          <a:prstGeom prst="ellipse">
            <a:avLst/>
          </a:prstGeom>
          <a:solidFill>
            <a:srgbClr val="17324A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206240"/>
            <a:ext cx="4206240" cy="4206240"/>
          </a:xfrm>
          <a:prstGeom prst="ellipse">
            <a:avLst/>
          </a:prstGeom>
          <a:solidFill>
            <a:srgbClr val="17324A"/>
          </a:solidFill>
          <a:ln/>
        </p:spPr>
      </p:sp>
      <p:sp>
        <p:nvSpPr>
          <p:cNvPr id="4" name="Shape 2"/>
          <p:cNvSpPr/>
          <p:nvPr/>
        </p:nvSpPr>
        <p:spPr>
          <a:xfrm>
            <a:off x="10515600" y="4846320"/>
            <a:ext cx="2194560" cy="2194560"/>
          </a:xfrm>
          <a:prstGeom prst="ellipse">
            <a:avLst/>
          </a:prstGeom>
          <a:solidFill>
            <a:srgbClr val="3C7A89"/>
          </a:solidFill>
          <a:ln/>
        </p:spPr>
      </p:sp>
      <p:sp>
        <p:nvSpPr>
          <p:cNvPr id="5" name="Shape 3"/>
          <p:cNvSpPr/>
          <p:nvPr/>
        </p:nvSpPr>
        <p:spPr>
          <a:xfrm>
            <a:off x="5394960" y="1051560"/>
            <a:ext cx="868680" cy="868680"/>
          </a:xfrm>
          <a:prstGeom prst="ellipse">
            <a:avLst/>
          </a:prstGeom>
          <a:solidFill>
            <a:srgbClr val="D99A2B"/>
          </a:solidFill>
          <a:ln/>
        </p:spPr>
      </p:sp>
      <p:pic>
        <p:nvPicPr>
          <p:cNvPr id="6" name="Image 0" descr="/home/claude/deck/assets/icon_target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7888" y="1164488"/>
            <a:ext cx="642823" cy="64282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97280" y="228600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Mais do que um modelo, uma ferramenta de decisão</a:t>
            </a:r>
            <a:endParaRPr lang="en-US" sz="2700" dirty="0"/>
          </a:p>
        </p:txBody>
      </p:sp>
      <p:sp>
        <p:nvSpPr>
          <p:cNvPr id="8" name="Text 5"/>
          <p:cNvSpPr txBox="1"/>
          <p:nvPr/>
        </p:nvSpPr>
        <p:spPr>
          <a:xfrm>
            <a:off x="1965960" y="306324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450" dirty="0">
                <a:solidFill>
                  <a:srgbClr val="C9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Transformar dados públicos sobre alfabetização em decisões concretas — antecipando risco, priorizando recursos e apoiando gestores educacionais em todo o Brasil.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5175504" y="4297680"/>
            <a:ext cx="1828800" cy="0"/>
          </a:xfrm>
          <a:prstGeom prst="line">
            <a:avLst/>
          </a:prstGeom>
          <a:noFill/>
          <a:ln w="19050">
            <a:solidFill>
              <a:srgbClr val="3C7A8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965960" y="4617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 · Tech Challenge Fase 3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855671" y="492773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50" dirty="0">
              <a:solidFill>
                <a:srgbClr val="8FA3B3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8</Slides>
  <Notes>7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9" baseType="lpstr"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24</cp:revision>
  <dcterms:created xsi:type="dcterms:W3CDTF">2026-09-13T22:06:22Z</dcterms:created>
  <dcterms:modified xsi:type="dcterms:W3CDTF">2026-09-15T21:04:16Z</dcterms:modified>
</cp:coreProperties>
</file>